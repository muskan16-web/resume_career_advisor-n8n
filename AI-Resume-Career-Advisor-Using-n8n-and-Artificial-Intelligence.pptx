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abin"/>
      <p:regular r:id="rId201314"/>
    </p:embeddedFont>
    <p:embeddedFont>
      <p:font typeface="Cabin Bold"/>
      <p:regular r:id="rId201315"/>
    </p:embeddedFont>
    <p:embeddedFont>
      <p:font typeface="Unbounded"/>
      <p:regular r:id="rId201316"/>
    </p:embeddedFont>
    <p:embeddedFont>
      <p:font typeface="Unbounded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image" Target="../media/image-8-1.png"/><Relationship Id="rId10" Type="http://schemas.openxmlformats.org/officeDocument/2006/relationships/image" Target="../media/image-8-2.svg"/><Relationship Id="rId11" Type="http://schemas.openxmlformats.org/officeDocument/2006/relationships/image" Target="../media/image-8-1.png"/><Relationship Id="rId12" Type="http://schemas.openxmlformats.org/officeDocument/2006/relationships/image" Target="../media/image-8-2.svg"/><Relationship Id="rId13" Type="http://schemas.openxmlformats.org/officeDocument/2006/relationships/image" Target="../media/image-8-1.png"/><Relationship Id="rId14" Type="http://schemas.openxmlformats.org/officeDocument/2006/relationships/image" Target="../media/image-8-2.svg"/><Relationship Id="rId15" Type="http://schemas.openxmlformats.org/officeDocument/2006/relationships/image" Target="../media/image-8-1.png"/><Relationship Id="rId16" Type="http://schemas.openxmlformats.org/officeDocument/2006/relationships/image" Target="../media/image-8-2.sv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823913"/>
            <a:ext cx="10751670" cy="1210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 Resume Career Advisor Using n8n and Artificial Intelligence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15220" y="2342555"/>
            <a:ext cx="1136125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An AI-Powered Resume Analysis, Job Matching and Career Guidance Automation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0012" y="2954536"/>
            <a:ext cx="10751670" cy="25400"/>
          </a:xfrm>
          <a:prstGeom prst="roundRect">
            <a:avLst>
              <a:gd name="adj" fmla="val 49999"/>
            </a:avLst>
          </a:prstGeom>
          <a:solidFill>
            <a:srgbClr val="CAD6DE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71883" y="3262709"/>
            <a:ext cx="5421177" cy="2771378"/>
          </a:xfrm>
          <a:prstGeom prst="roundRect">
            <a:avLst>
              <a:gd name="adj" fmla="val 1114"/>
            </a:avLst>
          </a:prstGeom>
          <a:solidFill>
            <a:srgbClr val="0A988B"/>
          </a:solidFill>
          <a:ln/>
        </p:spPr>
      </p:sp>
      <p:sp>
        <p:nvSpPr>
          <p:cNvPr id="6" name="Text 4"/>
          <p:cNvSpPr/>
          <p:nvPr/>
        </p:nvSpPr>
        <p:spPr>
          <a:xfrm>
            <a:off x="777558" y="3468390"/>
            <a:ext cx="5009826" cy="302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Student Details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558" y="3976688"/>
            <a:ext cx="5009826" cy="1357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Student Name: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Muskan</a:t>
            </a:r>
            <a:endParaRPr lang="en-US" sz="1600" dirty="0"/>
          </a:p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Roll Number: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2400300100255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Course: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B.Tech Computer Science Engineering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3115" y="3468390"/>
            <a:ext cx="5124917" cy="302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Institutional Details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353115" y="3976688"/>
            <a:ext cx="5124917" cy="1872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College/University: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Inderprastha Engineering College</a:t>
            </a:r>
            <a:endParaRPr lang="en-US" sz="1600" dirty="0"/>
          </a:p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Department: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Computer Science and Engineering</a:t>
            </a:r>
            <a:endParaRPr lang="en-US" sz="1600" dirty="0"/>
          </a:p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Project Guide: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Mr. Arun Bashambu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Academic Year: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2026-2027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624284"/>
            <a:ext cx="1612959" cy="214809"/>
          </a:xfrm>
          <a:prstGeom prst="roundRect">
            <a:avLst>
              <a:gd name="adj" fmla="val 7901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804842" y="666651"/>
            <a:ext cx="2052884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ACADEMIC PROJECT REPORT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20012" y="877987"/>
            <a:ext cx="10751670" cy="415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2137" y="1549102"/>
            <a:ext cx="10539546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project demonstrates the practical application of AI, prompt engineering, and workflow automation to create an intelligent, scalable career advisory system suitable for students, fresh graduates, and job seekers.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0012" y="1439763"/>
            <a:ext cx="19050" cy="600670"/>
          </a:xfrm>
          <a:prstGeom prst="roundRect">
            <a:avLst>
              <a:gd name="adj" fmla="val 49999"/>
            </a:avLst>
          </a:prstGeom>
          <a:solidFill>
            <a:srgbClr val="0A988B"/>
          </a:solidFill>
          <a:ln/>
        </p:spPr>
      </p:sp>
      <p:sp>
        <p:nvSpPr>
          <p:cNvPr id="7" name="Text 5"/>
          <p:cNvSpPr/>
          <p:nvPr/>
        </p:nvSpPr>
        <p:spPr>
          <a:xfrm>
            <a:off x="720012" y="2247007"/>
            <a:ext cx="5758115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0012" y="2552204"/>
            <a:ext cx="5758115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Job seekers struggle to objectively assess their qualifications against target positions, identify skill gaps, and develop structured preparation plans. Traditional resume screening tools provide generic feedback without job-specific personalization.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0012" y="3222427"/>
            <a:ext cx="5758115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0012" y="3527623"/>
            <a:ext cx="5758115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proposed system automates resume analysis, job description processing, and career guidance through an integrated workflow combining </a:t>
            </a:r>
            <a:pPr algn="l" indent="0" marL="0">
              <a:lnSpc>
                <a:spcPct val="113000"/>
              </a:lnSpc>
              <a:buNone/>
            </a:pPr>
            <a:r>
              <a:rPr lang="en-US" sz="11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n8n workflow automation</a:t>
            </a:r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with </a:t>
            </a:r>
            <a:pPr algn="l" indent="0" marL="0">
              <a:lnSpc>
                <a:spcPct val="113000"/>
              </a:lnSpc>
              <a:buNone/>
            </a:pPr>
            <a:r>
              <a:rPr lang="en-US" sz="11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artificial intelligence</a:t>
            </a:r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29552" y="2247007"/>
            <a:ext cx="4648381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System Outputs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29552" y="2564309"/>
            <a:ext cx="4648381" cy="81706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066183" y="2724745"/>
            <a:ext cx="4251318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Resume Match Score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066183" y="3029942"/>
            <a:ext cx="4251318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Quantified compatibility rating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9552" y="3478609"/>
            <a:ext cx="4648381" cy="81706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66183" y="3639046"/>
            <a:ext cx="4251318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Skill Gap Analysis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066183" y="3944243"/>
            <a:ext cx="4251318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Matching, missing, and weak skills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29552" y="4392910"/>
            <a:ext cx="4648381" cy="81706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66183" y="4553347"/>
            <a:ext cx="4251318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3-Month Learning Plan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066183" y="4858544"/>
            <a:ext cx="4251318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Structured career roadmap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29552" y="5307211"/>
            <a:ext cx="4648381" cy="8170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66183" y="5467648"/>
            <a:ext cx="4251318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Email Report Delivery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066183" y="5772845"/>
            <a:ext cx="4251318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Automated assessment dispatch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585589"/>
            <a:ext cx="900288" cy="273546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7960" y="639564"/>
            <a:ext cx="1293979" cy="165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20012" y="922139"/>
            <a:ext cx="10751670" cy="5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Introduction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20012" y="1687810"/>
            <a:ext cx="10751670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Resumes are critical gatekeepers in modern recruitment. Yet candidates consistently lack objective, role-specific feedback on how well their profile aligns with target positions. This project addresses six foundational challenges in career advisory: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2404963"/>
            <a:ext cx="450045" cy="450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66903" y="2404963"/>
            <a:ext cx="4630522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Resume Importance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366903" y="2764135"/>
            <a:ext cx="4630522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Resumes are critical gatekeepers in recruitment, yet candidates often lack objective feedback on alignment with specific roles.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4270" y="2404963"/>
            <a:ext cx="450045" cy="4500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41160" y="2404963"/>
            <a:ext cx="4630522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Job Description Challenge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841160" y="2764135"/>
            <a:ext cx="4630522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Job descriptions contain complex, varied terminology that candidates struggle to map against their own skills.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012" y="3889077"/>
            <a:ext cx="450045" cy="4500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66903" y="3889077"/>
            <a:ext cx="4630522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Skill Gap Problem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366903" y="4248249"/>
            <a:ext cx="4630522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Candidates frequently cannot identify which specific technical skills, tools, or certifications they lack for target positions.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4270" y="3889077"/>
            <a:ext cx="450045" cy="4500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41160" y="3889077"/>
            <a:ext cx="4630522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Preparation Difficulty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6841160" y="4248249"/>
            <a:ext cx="4630522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Without structured guidance, candidates lack systematic learning roadmaps and prioritization strategies.</a:t>
            </a:r>
            <a:endParaRPr lang="en-US" sz="14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0012" y="5373191"/>
            <a:ext cx="450045" cy="4500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66903" y="5373191"/>
            <a:ext cx="4630522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 in Career Guidance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1366903" y="5732363"/>
            <a:ext cx="4630522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Artificial intelligence enables objective, scalable, personalized career assessment at scale.</a:t>
            </a:r>
            <a:endParaRPr lang="en-US" sz="14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94270" y="5373191"/>
            <a:ext cx="450045" cy="45005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41160" y="5373191"/>
            <a:ext cx="4630522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Workflow Automation Value</a:t>
            </a:r>
            <a:endParaRPr lang="en-US" sz="1650" dirty="0"/>
          </a:p>
        </p:txBody>
      </p:sp>
      <p:sp>
        <p:nvSpPr>
          <p:cNvPr id="23" name="Text 15"/>
          <p:cNvSpPr/>
          <p:nvPr/>
        </p:nvSpPr>
        <p:spPr>
          <a:xfrm>
            <a:off x="6841160" y="5732363"/>
            <a:ext cx="4630522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Automation eliminates repetitive manual tasks, enabling rapid, consistent analysis across multiple candidates.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302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15220" y="971153"/>
            <a:ext cx="11361255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structured analysis of the core challenges facing modern job seekers and career advisory systems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152426"/>
            <a:ext cx="9753356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0012" y="6696670"/>
            <a:ext cx="10751670" cy="272455"/>
          </a:xfrm>
          <a:prstGeom prst="roundRect">
            <a:avLst>
              <a:gd name="adj" fmla="val 5663"/>
            </a:avLst>
          </a:prstGeom>
          <a:solidFill>
            <a:srgbClr val="08786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01" y="6773763"/>
            <a:ext cx="128584" cy="1027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4173" y="6773763"/>
            <a:ext cx="10924306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These six problem areas collectively represent the gap that the AI Resume Career Advisor system is designed to bridge through integrated automation and intelligence.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565745"/>
            <a:ext cx="997024" cy="156270"/>
          </a:xfrm>
          <a:prstGeom prst="roundRect">
            <a:avLst>
              <a:gd name="adj" fmla="val 7899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781725" y="596602"/>
            <a:ext cx="1483184" cy="94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PROBLEM AREA 4.1 – 4.2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720012" y="742553"/>
            <a:ext cx="10751670" cy="302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Manual Evaluation &amp; Lack of Personalized Feedback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5997" y="1122263"/>
            <a:ext cx="5398456" cy="1043285"/>
          </a:xfrm>
          <a:prstGeom prst="roundRect">
            <a:avLst>
              <a:gd name="adj" fmla="val 1479"/>
            </a:avLst>
          </a:prstGeom>
          <a:solidFill>
            <a:srgbClr val="1C3645"/>
          </a:solidFill>
          <a:ln/>
        </p:spPr>
      </p:sp>
      <p:sp>
        <p:nvSpPr>
          <p:cNvPr id="6" name="Text 4"/>
          <p:cNvSpPr/>
          <p:nvPr/>
        </p:nvSpPr>
        <p:spPr>
          <a:xfrm>
            <a:off x="748785" y="1173659"/>
            <a:ext cx="5192880" cy="1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4.1 Manual Resume Evaluation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8785" y="1376362"/>
            <a:ext cx="5192880" cy="406202"/>
          </a:xfrm>
          <a:prstGeom prst="rect">
            <a:avLst/>
          </a:prstGeom>
          <a:noFill/>
          <a:ln/>
        </p:spPr>
        <p:txBody>
          <a:bodyPr wrap="square" lIns="0" tIns="41147" rIns="0" bIns="0" rtlCol="0" anchor="t">
            <a:normAutofit/>
          </a:bodyPr>
          <a:lstStyle/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Candidates manually compare resumes with job descriptions — a time-consuming, error-prone process</a:t>
            </a:r>
            <a:endParaRPr lang="en-US" sz="800" dirty="0"/>
          </a:p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 standardized methodology for assessing resume-job fit exists in conventional approaches</a:t>
            </a:r>
            <a:endParaRPr lang="en-US" sz="800" dirty="0"/>
          </a:p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Subjective evaluation leads to inconsistent results and missed opportunities for qualified candidates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27607" y="1173659"/>
            <a:ext cx="5250426" cy="1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4.2 Lack of Personalized Feedback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27607" y="1376362"/>
            <a:ext cx="5250426" cy="406202"/>
          </a:xfrm>
          <a:prstGeom prst="rect">
            <a:avLst/>
          </a:prstGeom>
          <a:noFill/>
          <a:ln/>
        </p:spPr>
        <p:txBody>
          <a:bodyPr wrap="square" lIns="0" tIns="41147" rIns="0" bIns="0" rtlCol="0" anchor="t">
            <a:normAutofit/>
          </a:bodyPr>
          <a:lstStyle/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Generic resume tools provide standard suggestions applicable to all users regardless of target role</a:t>
            </a:r>
            <a:endParaRPr lang="en-US" sz="800" dirty="0"/>
          </a:p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Feedback does not address specific target job requirements or industry context</a:t>
            </a:r>
            <a:endParaRPr lang="en-US" sz="800" dirty="0"/>
          </a:p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Candidates receive generic advice rather than actionable, role-specific guidance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227607" y="1840409"/>
            <a:ext cx="5250426" cy="267295"/>
          </a:xfrm>
          <a:prstGeom prst="roundRect">
            <a:avLst>
              <a:gd name="adj" fmla="val 5773"/>
            </a:avLst>
          </a:prstGeom>
          <a:solidFill>
            <a:srgbClr val="4B3F0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0395" y="1922760"/>
            <a:ext cx="128584" cy="10279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61767" y="1912342"/>
            <a:ext cx="5423062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Generic feedback is not just unhelpful — it can actively mislead candidates into optimizing for the wrong skills.</a:t>
            </a:r>
            <a:endParaRPr lang="en-US" sz="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247" y="2223393"/>
            <a:ext cx="4709201" cy="50962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54278" y="5921838"/>
            <a:ext cx="2276633" cy="28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Manual Review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3897037" y="6292270"/>
            <a:ext cx="2591115" cy="362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Candidate compares resume to JD subjectively.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771832" y="2887651"/>
            <a:ext cx="2453865" cy="28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Generic Feedback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5703291" y="3258084"/>
            <a:ext cx="2591114" cy="362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Tool provides non-specific, non-actionable advice.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581918"/>
            <a:ext cx="2069056" cy="302816"/>
          </a:xfrm>
          <a:prstGeom prst="roundRect">
            <a:avLst>
              <a:gd name="adj" fmla="val 7898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839568" y="641648"/>
            <a:ext cx="2439530" cy="183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PROBLEM AREAS 4.3 – 4.6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20012" y="961926"/>
            <a:ext cx="10751670" cy="11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Skill Gaps, Preparation, and Fragmentation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720012" y="2423914"/>
            <a:ext cx="448358" cy="44837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6" name="Text 4"/>
          <p:cNvSpPr/>
          <p:nvPr/>
        </p:nvSpPr>
        <p:spPr>
          <a:xfrm>
            <a:off x="803503" y="2472234"/>
            <a:ext cx="281278" cy="3516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61446" y="2492375"/>
            <a:ext cx="4613755" cy="292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Skill Gap Identification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61446" y="2901156"/>
            <a:ext cx="4613755" cy="1255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Candidates lack clarity on which technical skills, tools, or qualifications are missing relative to their target job description. This ambiguity leads to unfocused self-improvement efforts.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16494" y="2423914"/>
            <a:ext cx="448358" cy="44837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0" name="Text 8"/>
          <p:cNvSpPr/>
          <p:nvPr/>
        </p:nvSpPr>
        <p:spPr>
          <a:xfrm>
            <a:off x="6299985" y="2472234"/>
            <a:ext cx="281278" cy="3516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7928" y="2492375"/>
            <a:ext cx="4613755" cy="292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Unstructured Preparation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7928" y="2901156"/>
            <a:ext cx="4613755" cy="1255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Even when gaps are identified, candidates lack systematic learning plans or prioritization frameworks. Without structure, preparation becomes ad hoc and inefficient.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20012" y="4543028"/>
            <a:ext cx="448358" cy="44837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4" name="Text 12"/>
          <p:cNvSpPr/>
          <p:nvPr/>
        </p:nvSpPr>
        <p:spPr>
          <a:xfrm>
            <a:off x="803503" y="4591348"/>
            <a:ext cx="281278" cy="3516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61446" y="4611489"/>
            <a:ext cx="4613755" cy="292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Fragmented Services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61446" y="5020270"/>
            <a:ext cx="4613755" cy="1255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Resume analysis, recommendations, skill-gap analysis, and learning plans are typically offered as separate, disconnected services — requiring candidates to navigate multiple platforms.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216494" y="4543028"/>
            <a:ext cx="448358" cy="44837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8" name="Text 16"/>
          <p:cNvSpPr/>
          <p:nvPr/>
        </p:nvSpPr>
        <p:spPr>
          <a:xfrm>
            <a:off x="6299985" y="4591348"/>
            <a:ext cx="281278" cy="3516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7928" y="4611489"/>
            <a:ext cx="4613755" cy="292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Manual Reporting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7928" y="5020270"/>
            <a:ext cx="4613755" cy="1255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Creating detailed career assessments requires significant manual effort from both the advisor and the candidate, making scalable personalized guidance economically impractical.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90947"/>
            <a:ext cx="10751670" cy="359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Integrated Solution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903166" y="1176834"/>
            <a:ext cx="10568517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proposed AI Resume Career Advisor addresses all identified problems through an integrated, automated workflow that combines resume analysis, job matching, skill-gap identification, personalized recommendations, and structured learning plans into a single, scalable system.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20012" y="1095276"/>
            <a:ext cx="12700" cy="474464"/>
          </a:xfrm>
          <a:prstGeom prst="roundRect">
            <a:avLst>
              <a:gd name="adj" fmla="val 49999"/>
            </a:avLst>
          </a:prstGeom>
          <a:solidFill>
            <a:srgbClr val="0A98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5271" y="1651298"/>
            <a:ext cx="8361054" cy="38266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17364" y="4436032"/>
            <a:ext cx="1569723" cy="568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Automated Delivery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339084" y="4436032"/>
            <a:ext cx="1569723" cy="568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Report Generation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371554" y="4436032"/>
            <a:ext cx="1569723" cy="568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 Processing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2361019" y="4436032"/>
            <a:ext cx="1569723" cy="568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Input Collection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20012" y="5632053"/>
            <a:ext cx="3348351" cy="185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🎯</a:t>
            </a:r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Unified Platform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5220" y="5890518"/>
            <a:ext cx="3957935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All advisory services consolidated into one automated workflow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372759" y="5632053"/>
            <a:ext cx="3458778" cy="185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⚡</a:t>
            </a:r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Scalable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72759" y="5890518"/>
            <a:ext cx="3458778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Handles multiple candidates simultaneously without manual intervention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135932" y="5632053"/>
            <a:ext cx="3348351" cy="185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🤖</a:t>
            </a:r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AI-Powered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35932" y="5890518"/>
            <a:ext cx="3348351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Objective, consistent, and personalized analysis for every submission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15057"/>
            <a:ext cx="10751670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Objectives &amp; Proposed System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5220" y="1189335"/>
            <a:ext cx="11361255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comprehensive set of technical and functional goals guiding the design and implementation of the AI Resume Career Advisor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1467842"/>
            <a:ext cx="5331485" cy="11245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04795" y="1569045"/>
            <a:ext cx="16192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73996" y="2007890"/>
            <a:ext cx="5023518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Automate Analysis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73996" y="2259509"/>
            <a:ext cx="5023518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Automate resume and job description analysis end-to-end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0098" y="1467842"/>
            <a:ext cx="5331585" cy="11245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24880" y="1569045"/>
            <a:ext cx="16192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294082" y="2007890"/>
            <a:ext cx="5023617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Compatibility Score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294082" y="2259509"/>
            <a:ext cx="5023617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Generate AI-based resume compatibility scores for target roles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012" y="2680990"/>
            <a:ext cx="5331485" cy="112454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04795" y="2782193"/>
            <a:ext cx="16192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873996" y="3221038"/>
            <a:ext cx="5023518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Skill Identification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73996" y="3472656"/>
            <a:ext cx="5023518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Identify matching, missing, and weak skills with precision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0098" y="2680990"/>
            <a:ext cx="5331585" cy="112454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24880" y="2782193"/>
            <a:ext cx="16192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294082" y="3221038"/>
            <a:ext cx="5023617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Gap Analysis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294082" y="3472656"/>
            <a:ext cx="5023617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Perform comprehensive skill-gap analysis against job requirements</a:t>
            </a:r>
            <a:endParaRPr lang="en-US" sz="10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0012" y="3905151"/>
            <a:ext cx="5331485" cy="112454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304795" y="4006354"/>
            <a:ext cx="16192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873996" y="4445198"/>
            <a:ext cx="5023518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Career Recommendations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873996" y="4696817"/>
            <a:ext cx="5023518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Provide personalized career recommendations and resume improvement suggestions</a:t>
            </a:r>
            <a:endParaRPr lang="en-US" sz="10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40098" y="3905151"/>
            <a:ext cx="5331585" cy="112454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724880" y="4006354"/>
            <a:ext cx="16192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6294082" y="4445198"/>
            <a:ext cx="5023617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Learning Plan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6294082" y="4696817"/>
            <a:ext cx="5023617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Generate structured 3-month practice and learning plans tailored to identified gaps</a:t>
            </a:r>
            <a:endParaRPr lang="en-US" sz="10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0012" y="5118298"/>
            <a:ext cx="5331485" cy="112454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304795" y="5219502"/>
            <a:ext cx="16192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873996" y="5658346"/>
            <a:ext cx="5023518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Assessment Reports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873996" y="5909965"/>
            <a:ext cx="5023518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Produce detailed, professional career assessment reports automatically</a:t>
            </a:r>
            <a:endParaRPr lang="en-US" sz="10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40098" y="5118298"/>
            <a:ext cx="5331585" cy="112454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8724880" y="5219502"/>
            <a:ext cx="16192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250" dirty="0"/>
          </a:p>
        </p:txBody>
      </p:sp>
      <p:sp>
        <p:nvSpPr>
          <p:cNvPr id="34" name="Text 24"/>
          <p:cNvSpPr/>
          <p:nvPr/>
        </p:nvSpPr>
        <p:spPr>
          <a:xfrm>
            <a:off x="6294082" y="5658346"/>
            <a:ext cx="5023617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Email Delivery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6294082" y="5909965"/>
            <a:ext cx="5023617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Automatically deliver comprehensive reports via email to the candidate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565745"/>
            <a:ext cx="728446" cy="156270"/>
          </a:xfrm>
          <a:prstGeom prst="roundRect">
            <a:avLst>
              <a:gd name="adj" fmla="val 7899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781725" y="596602"/>
            <a:ext cx="1214606" cy="94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SYSTEM DESIGN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720012" y="742553"/>
            <a:ext cx="10751670" cy="302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n8n Workflow Architecture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0012" y="1122263"/>
            <a:ext cx="11361255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system is built on an </a:t>
            </a:r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n8n workflow automation backbone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orchestrating data flow between input collection, AI processing, report generation, and email delivery nodes in a seamless pipeline.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303536"/>
            <a:ext cx="9753356" cy="548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0012" y="6899176"/>
            <a:ext cx="5250426" cy="1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Core AI Capabilities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20012" y="7101880"/>
            <a:ext cx="5250426" cy="406202"/>
          </a:xfrm>
          <a:prstGeom prst="rect">
            <a:avLst/>
          </a:prstGeom>
          <a:noFill/>
          <a:ln/>
        </p:spPr>
        <p:txBody>
          <a:bodyPr wrap="square" lIns="0" tIns="41147" rIns="0" bIns="0" rtlCol="0" anchor="t">
            <a:normAutofit/>
          </a:bodyPr>
          <a:lstStyle/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Prompt Engineering:</a:t>
            </a:r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Carefully crafted prompts guide the AI to produce structured, consistent outputs</a:t>
            </a:r>
            <a:endParaRPr lang="en-US" sz="800" dirty="0"/>
          </a:p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Skill Extraction:</a:t>
            </a:r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AI identifies and categorizes technical and soft skills from both resume and job description</a:t>
            </a:r>
            <a:endParaRPr lang="en-US" sz="800" dirty="0"/>
          </a:p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Scoring Logic:</a:t>
            </a:r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Compatibility scoring based on weighted skill matching and qualification alignment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27607" y="6899176"/>
            <a:ext cx="5250426" cy="1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Automation Benefits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27607" y="7101880"/>
            <a:ext cx="5250426" cy="406202"/>
          </a:xfrm>
          <a:prstGeom prst="rect">
            <a:avLst/>
          </a:prstGeom>
          <a:noFill/>
          <a:ln/>
        </p:spPr>
        <p:txBody>
          <a:bodyPr wrap="square" lIns="0" tIns="41147" rIns="0" bIns="0" rtlCol="0" anchor="t">
            <a:normAutofit/>
          </a:bodyPr>
          <a:lstStyle/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Consistency:</a:t>
            </a:r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Every candidate receives the same rigorous analytical framework</a:t>
            </a:r>
            <a:endParaRPr lang="en-US" sz="800" dirty="0"/>
          </a:p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Speed:</a:t>
            </a:r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Full analysis and report delivery completed in minutes, not hours</a:t>
            </a:r>
            <a:endParaRPr lang="en-US" sz="800" dirty="0"/>
          </a:p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Scalability:</a:t>
            </a:r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Workflow handles concurrent submissions without degradation in quality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597991"/>
            <a:ext cx="1914179" cy="249039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8336" y="647105"/>
            <a:ext cx="2327118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B.TECH CSE PROJECT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0012" y="899220"/>
            <a:ext cx="10751670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Summary &amp; Academic Contribution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20012" y="1707952"/>
            <a:ext cx="629100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This Project Demonstrates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20012" y="2079625"/>
            <a:ext cx="6291006" cy="1530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project presents a complete, end-to-end implementation of an </a:t>
            </a:r>
            <a:pPr algn="l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AI Resume Career Advisor</a:t>
            </a:r>
            <a:pPr algn="l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that integrates n8n workflow automation with large language model capabilities to solve a real-world career advisory problem.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system serves as a practical demonstration of how </a:t>
            </a:r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prompt engineering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</a:t>
            </a:r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workflow orchestration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and </a:t>
            </a:r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AI-driven analysis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can be combined to create scalable, intelligent advisory systems — a core competency in modern Computer Science Engineering.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0012" y="3741043"/>
            <a:ext cx="629100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Target Beneficiaries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0012" y="4112716"/>
            <a:ext cx="6291006" cy="1079103"/>
          </a:xfrm>
          <a:prstGeom prst="rect">
            <a:avLst/>
          </a:prstGeom>
          <a:noFill/>
          <a:ln/>
        </p:spPr>
        <p:txBody>
          <a:bodyPr wrap="square" lIns="0" tIns="65578" rIns="0" bIns="0" rtlCol="0" anchor="t">
            <a:normAutofit/>
          </a:bodyPr>
          <a:lstStyle/>
          <a:p>
            <a:pPr algn="l" marL="254000" indent="-2540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Final-year students preparing for campus placements</a:t>
            </a:r>
            <a:endParaRPr lang="en-US" sz="1250" dirty="0"/>
          </a:p>
          <a:p>
            <a:pPr algn="l" marL="254000" indent="-2540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Fresh graduates entering competitive job markets</a:t>
            </a:r>
            <a:endParaRPr lang="en-US" sz="1250" dirty="0"/>
          </a:p>
          <a:p>
            <a:pPr algn="l" marL="254000" indent="-2540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Career changers seeking role-specific guidance</a:t>
            </a:r>
            <a:endParaRPr lang="en-US" sz="1250" dirty="0"/>
          </a:p>
          <a:p>
            <a:pPr algn="l" marL="254000" indent="-2540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Job seekers requiring structured preparation plans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299242" y="1577380"/>
            <a:ext cx="4296660" cy="3734495"/>
          </a:xfrm>
          <a:prstGeom prst="roundRect">
            <a:avLst>
              <a:gd name="adj" fmla="val 659"/>
            </a:avLst>
          </a:prstGeom>
          <a:solidFill>
            <a:srgbClr val="0A988B"/>
          </a:solidFill>
          <a:ln/>
        </p:spPr>
      </p:sp>
      <p:sp>
        <p:nvSpPr>
          <p:cNvPr id="10" name="Text 8"/>
          <p:cNvSpPr/>
          <p:nvPr/>
        </p:nvSpPr>
        <p:spPr>
          <a:xfrm>
            <a:off x="7463147" y="1707952"/>
            <a:ext cx="3968849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Technical Areas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63147" y="2079625"/>
            <a:ext cx="3968849" cy="1641475"/>
          </a:xfrm>
          <a:prstGeom prst="rect">
            <a:avLst/>
          </a:prstGeom>
          <a:noFill/>
          <a:ln/>
        </p:spPr>
        <p:txBody>
          <a:bodyPr wrap="square" lIns="0" tIns="65578" rIns="0" bIns="0" rtlCol="0" anchor="t">
            <a:normAutofit/>
          </a:bodyPr>
          <a:lstStyle/>
          <a:p>
            <a:pPr algn="l" marL="254000" indent="-2540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Workflow Automation (n8n)</a:t>
            </a:r>
            <a:endParaRPr lang="en-US" sz="1250" dirty="0"/>
          </a:p>
          <a:p>
            <a:pPr algn="l" marL="254000" indent="-2540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Artificial Intelligence Integration</a:t>
            </a:r>
            <a:endParaRPr lang="en-US" sz="1250" dirty="0"/>
          </a:p>
          <a:p>
            <a:pPr algn="l" marL="254000" indent="-2540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Prompt Engineering</a:t>
            </a:r>
            <a:endParaRPr lang="en-US" sz="1250" dirty="0"/>
          </a:p>
          <a:p>
            <a:pPr algn="l" marL="254000" indent="-2540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Natural Language Processing</a:t>
            </a:r>
            <a:endParaRPr lang="en-US" sz="1250" dirty="0"/>
          </a:p>
          <a:p>
            <a:pPr algn="l" marL="254000" indent="-2540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Automated Report Generation</a:t>
            </a:r>
            <a:endParaRPr lang="en-US" sz="1250" dirty="0"/>
          </a:p>
          <a:p>
            <a:pPr algn="l" marL="254000" indent="-2540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Email Delivery Automation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63147" y="3909020"/>
            <a:ext cx="3968849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463147" y="4115991"/>
            <a:ext cx="3968849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Academic Value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63147" y="4487664"/>
            <a:ext cx="3968849" cy="706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Demonstrates integration of AI, automation, and software engineering principles in a production-ready system architecture.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20012" y="5458817"/>
            <a:ext cx="10751670" cy="801191"/>
          </a:xfrm>
          <a:prstGeom prst="roundRect">
            <a:avLst>
              <a:gd name="adj" fmla="val 3069"/>
            </a:avLst>
          </a:prstGeom>
          <a:solidFill>
            <a:srgbClr val="183A13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918" y="5645646"/>
            <a:ext cx="204882" cy="16390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52705" y="5630366"/>
            <a:ext cx="1005507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project fulfills the B.Tech CSE requirement of demonstrating practical application of computer science principles to solve real-world problems through innovative system design and implementation.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2026-09-01T15:11:50Z</dcterms:created>
  <dcterms:modified xsi:type="dcterms:W3CDTF">2026-09-01T15:11:50Z</dcterms:modified>
</cp:coreProperties>
</file>